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 sets the thesis: Copilot Studio enables any organization to build and deploy AI agents without deep technical expertise, backed by enterprise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Pyramid conclusion first: present the three pillars that make Copilot Studio the optimal choice before diving into supporting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 the audience faces. Each barrier maps directly to a Copilot Studio capability introduced in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each capability to the barriers on the previous slide: agents solve the talent gap, flows solve the scale gap, knowledge solves the integration gap, channels solve 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Based on the official Microsoft decision tree: audience scope, deployment breadth, functionality depth, and governance requirements determine the right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Chronological evidence proving continuous investment. Each release addresses real enterprise needs — governance, developer experience, model choice, and automation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the financial objection by showing a clear on-ramp. The free trial removes all initial cost barriers; the M365 path leverages existing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the governance barrier head-on. Every control listed is available today, not on a roadmap. Link to the security-and-governance source for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Concrete, time-boxed actions remove ambiguity. Each phase maps to a licensing tier introduced on the cost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clear, actionable next steps. Each action is achievable within one business day to create immediate momentum.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microsoft-copilot-studio-transform-operations-with-low-code--d80c5481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92" y="1653284"/>
            <a:ext cx="3337560" cy="256497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1495592"/>
            <a:ext cx="8238744" cy="1015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181F25"/>
                </a:solidFill>
                <a:latin typeface="Calibri"/>
              </a:rPr>
              <a:t>Microsoft Copilot Studio — Transform Operations with Low-Code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964484"/>
            <a:ext cx="8238744" cy="6462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0">
                <a:solidFill>
                  <a:srgbClr val="2B333B"/>
                </a:solidFill>
                <a:latin typeface="Calibri"/>
              </a:rPr>
              <a:t>The era of AI-driven operations is here — build with low-code, deploy on enterprise-grade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87552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4063959"/>
            <a:ext cx="2798064" cy="420624"/>
          </a:xfrm>
          <a:prstGeom prst="roundRect">
            <a:avLst/>
          </a:prstGeom>
          <a:solidFill>
            <a:srgbClr val="DEFCF0"/>
          </a:solidFill>
          <a:ln w="1270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1100">
                <a:solidFill>
                  <a:srgbClr val="181F25"/>
                </a:solidFill>
                <a:latin typeface="Calibri"/>
              </a:rPr>
              <a:t>Build intelligent AI agents with a low-code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2424" y="4063959"/>
            <a:ext cx="2798064" cy="420624"/>
          </a:xfrm>
          <a:prstGeom prst="roundRect">
            <a:avLst/>
          </a:prstGeom>
          <a:solidFill>
            <a:srgbClr val="DEFCF0"/>
          </a:solidFill>
          <a:ln w="1270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1100">
                <a:solidFill>
                  <a:srgbClr val="181F25"/>
                </a:solidFill>
                <a:latin typeface="Calibri"/>
              </a:rPr>
              <a:t>Unified with the Microsoft 365 and Power Platform ecosystem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4063959"/>
            <a:ext cx="2798064" cy="420624"/>
          </a:xfrm>
          <a:prstGeom prst="roundRect">
            <a:avLst/>
          </a:prstGeom>
          <a:solidFill>
            <a:srgbClr val="DEFCF0"/>
          </a:solidFill>
          <a:ln w="1270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1100">
                <a:solidFill>
                  <a:srgbClr val="181F25"/>
                </a:solidFill>
                <a:latin typeface="Calibri"/>
              </a:rPr>
              <a:t>Adoption Guide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449056" cy="1015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1F25"/>
                </a:solidFill>
                <a:latin typeface="Calibri"/>
              </a:rPr>
              <a:t>Conclusion: Copilot Studio Wins on Speed, Integration, and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37416"/>
            <a:ext cx="8449056" cy="6462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>
                <a:solidFill>
                  <a:srgbClr val="2B333B"/>
                </a:solidFill>
                <a:latin typeface="Calibri"/>
              </a:rPr>
              <a:t>The only platform that delivers low-code development, enterprise integration, and robust governance simultaneously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48306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649474"/>
            <a:ext cx="4306824" cy="923544"/>
          </a:xfrm>
          <a:prstGeom prst="roundRect">
            <a:avLst/>
          </a:prstGeom>
          <a:solidFill>
            <a:srgbClr val="FCFCFD"/>
          </a:solidFill>
          <a:ln w="2540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>
            <a:normAutofit/>
          </a:bodyPr>
          <a:lstStyle/>
          <a:p>
            <a:pPr algn="l"/>
            <a:r>
              <a:rPr sz="1500" b="1">
                <a:solidFill>
                  <a:srgbClr val="181F25"/>
                </a:solidFill>
                <a:latin typeface="Calibri"/>
              </a:rPr>
              <a:t>Rapid Build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2B333B"/>
                </a:solidFill>
                <a:latin typeface="Calibri"/>
              </a:rPr>
              <a:t>Deploy AI agents in hours without developers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49474"/>
            <a:ext cx="54864" cy="923544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56632" y="2649474"/>
            <a:ext cx="4306824" cy="923544"/>
          </a:xfrm>
          <a:prstGeom prst="roundRect">
            <a:avLst/>
          </a:prstGeom>
          <a:solidFill>
            <a:srgbClr val="FCFCFD"/>
          </a:solidFill>
          <a:ln w="25400">
            <a:solidFill>
              <a:srgbClr val="A5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>
            <a:normAutofit/>
          </a:bodyPr>
          <a:lstStyle/>
          <a:p>
            <a:pPr algn="l"/>
            <a:r>
              <a:rPr sz="1500" b="1">
                <a:solidFill>
                  <a:srgbClr val="181F25"/>
                </a:solidFill>
                <a:latin typeface="Calibri"/>
              </a:rPr>
              <a:t>Seamless Integration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2B333B"/>
                </a:solidFill>
                <a:latin typeface="Calibri"/>
              </a:rPr>
              <a:t>Connect instantly to M365, Dynamics 365, and external APIs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56632" y="2649474"/>
            <a:ext cx="54864" cy="923544"/>
          </a:xfrm>
          <a:prstGeom prst="rect">
            <a:avLst/>
          </a:prstGeom>
          <a:solidFill>
            <a:srgbClr val="A5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829050"/>
            <a:ext cx="4306824" cy="923544"/>
          </a:xfrm>
          <a:prstGeom prst="roundRect">
            <a:avLst/>
          </a:prstGeom>
          <a:solidFill>
            <a:srgbClr val="FCFCFD"/>
          </a:solidFill>
          <a:ln w="25400">
            <a:solidFill>
              <a:srgbClr val="D8E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>
            <a:normAutofit/>
          </a:bodyPr>
          <a:lstStyle/>
          <a:p>
            <a:pPr algn="l"/>
            <a:r>
              <a:rPr sz="1500" b="1">
                <a:solidFill>
                  <a:srgbClr val="181F25"/>
                </a:solidFill>
                <a:latin typeface="Calibri"/>
              </a:rPr>
              <a:t>Robust Governance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2B333B"/>
                </a:solidFill>
                <a:latin typeface="Calibri"/>
              </a:rPr>
              <a:t>Maintain enterprise standards with DLP, audit logs, and MIP labels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29050"/>
            <a:ext cx="54864" cy="923544"/>
          </a:xfrm>
          <a:prstGeom prst="rect">
            <a:avLst/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449056" cy="1015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1F25"/>
                </a:solidFill>
                <a:latin typeface="Calibri"/>
              </a:rPr>
              <a:t>Reality Check: Three Barriers Block Enterprise AI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37416"/>
            <a:ext cx="8449056" cy="6462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>
                <a:solidFill>
                  <a:srgbClr val="2B333B"/>
                </a:solidFill>
                <a:latin typeface="Calibri"/>
              </a:rPr>
              <a:t>Talent shortages, data silos, and governance gaps are stalling AI initiatives beyond the PoC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48306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649474"/>
            <a:ext cx="8759952" cy="649795"/>
          </a:xfrm>
          <a:prstGeom prst="roundRect">
            <a:avLst/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919507"/>
            <a:ext cx="109728" cy="109728"/>
          </a:xfrm>
          <a:prstGeom prst="ellipse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04338"/>
            <a:ext cx="8257032" cy="5400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5"/>
                </a:solidFill>
                <a:latin typeface="Calibri"/>
              </a:rPr>
              <a:t>Talent Gap</a:t>
            </a:r>
            <a:r>
              <a:rPr sz="1400" b="0">
                <a:solidFill>
                  <a:srgbClr val="2B333B"/>
                </a:solidFill>
                <a:latin typeface="Calibri"/>
              </a:rPr>
              <a:t> — Data scientists and developers are scarce, stalling projects at the PoC stage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08997"/>
            <a:ext cx="8759952" cy="649795"/>
          </a:xfrm>
          <a:prstGeom prst="roundRect">
            <a:avLst/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3679031"/>
            <a:ext cx="109728" cy="109728"/>
          </a:xfrm>
          <a:prstGeom prst="ellipse">
            <a:avLst/>
          </a:prstGeom>
          <a:solidFill>
            <a:srgbClr val="A5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463861"/>
            <a:ext cx="8257032" cy="5400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5"/>
                </a:solidFill>
                <a:latin typeface="Calibri"/>
              </a:rPr>
              <a:t>Integration Gap</a:t>
            </a:r>
            <a:r>
              <a:rPr sz="1400" b="0">
                <a:solidFill>
                  <a:srgbClr val="2B333B"/>
                </a:solidFill>
                <a:latin typeface="Calibri"/>
              </a:rPr>
              <a:t> — Siloed data and processes prevent organization-wide AI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168521"/>
            <a:ext cx="8759952" cy="649795"/>
          </a:xfrm>
          <a:prstGeom prst="roundRect">
            <a:avLst/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438554"/>
            <a:ext cx="109728" cy="109728"/>
          </a:xfrm>
          <a:prstGeom prst="ellipse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23384"/>
            <a:ext cx="8257032" cy="5400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5"/>
                </a:solidFill>
                <a:latin typeface="Calibri"/>
              </a:rPr>
              <a:t>Governance Gap</a:t>
            </a:r>
            <a:r>
              <a:rPr sz="1400" b="0">
                <a:solidFill>
                  <a:srgbClr val="2B333B"/>
                </a:solidFill>
                <a:latin typeface="Calibri"/>
              </a:rPr>
              <a:t> — Security and compliance standards for generative AI remain undefined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928044"/>
            <a:ext cx="8759952" cy="649795"/>
          </a:xfrm>
          <a:prstGeom prst="roundRect">
            <a:avLst/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5198078"/>
            <a:ext cx="109728" cy="109728"/>
          </a:xfrm>
          <a:prstGeom prst="ellipse">
            <a:avLst/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982908"/>
            <a:ext cx="8257032" cy="5400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5"/>
                </a:solidFill>
                <a:latin typeface="Calibri"/>
              </a:rPr>
              <a:t>Scale Gap</a:t>
            </a:r>
            <a:r>
              <a:rPr sz="1400" b="0">
                <a:solidFill>
                  <a:srgbClr val="2B333B"/>
                </a:solidFill>
                <a:latin typeface="Calibri"/>
              </a:rPr>
              <a:t> — Transitioning from PoC to production takes too long and costs too much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449056" cy="1015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1F25"/>
                </a:solidFill>
                <a:latin typeface="Calibri"/>
              </a:rPr>
              <a:t>Solution: A Platform That Autonomizes Work with Agents and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37416"/>
            <a:ext cx="8449056" cy="6462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>
                <a:solidFill>
                  <a:srgbClr val="2B333B"/>
                </a:solidFill>
                <a:latin typeface="Calibri"/>
              </a:rPr>
              <a:t>Conversational AI, task automation, knowledge integration, and multi-channel deployment — all in one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48306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649474"/>
            <a:ext cx="4306824" cy="923544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>
            <a:normAutofit/>
          </a:bodyPr>
          <a:lstStyle/>
          <a:p>
            <a:pPr algn="l"/>
            <a:r>
              <a:rPr sz="1400" b="1">
                <a:solidFill>
                  <a:srgbClr val="181F25"/>
                </a:solidFill>
                <a:latin typeface="Calibri"/>
              </a:rPr>
              <a:t>Agents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B333B"/>
                </a:solidFill>
                <a:latin typeface="Calibri"/>
              </a:rPr>
              <a:t>AI companions that converse, decide, and act autonomously using NLU and generative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49474"/>
            <a:ext cx="4306824" cy="4572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56632" y="2649474"/>
            <a:ext cx="4306824" cy="923544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5C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>
            <a:normAutofit/>
          </a:bodyPr>
          <a:lstStyle/>
          <a:p>
            <a:pPr algn="l"/>
            <a:r>
              <a:rPr sz="1400" b="1">
                <a:solidFill>
                  <a:srgbClr val="181F25"/>
                </a:solidFill>
                <a:latin typeface="Calibri"/>
              </a:rPr>
              <a:t>Agent Flows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B333B"/>
                </a:solidFill>
                <a:latin typeface="Calibri"/>
              </a:rPr>
              <a:t>Automate repetitive tasks with natural language or a visual editor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56632" y="2649474"/>
            <a:ext cx="4306824" cy="45720"/>
          </a:xfrm>
          <a:prstGeom prst="rect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829050"/>
            <a:ext cx="4306824" cy="923544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B1D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>
            <a:normAutofit/>
          </a:bodyPr>
          <a:lstStyle/>
          <a:p>
            <a:pPr algn="l"/>
            <a:r>
              <a:rPr sz="1400" b="1">
                <a:solidFill>
                  <a:srgbClr val="181F25"/>
                </a:solidFill>
                <a:latin typeface="Calibri"/>
              </a:rPr>
              <a:t>Knowledge Integration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B333B"/>
                </a:solidFill>
                <a:latin typeface="Calibri"/>
              </a:rPr>
              <a:t>Retrieve real-time knowledge from SharePoint, Graph, and external connectors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29050"/>
            <a:ext cx="4306824" cy="45720"/>
          </a:xfrm>
          <a:prstGeom prst="rect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56632" y="3829050"/>
            <a:ext cx="4306824" cy="923544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A5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>
            <a:normAutofit/>
          </a:bodyPr>
          <a:lstStyle/>
          <a:p>
            <a:pPr algn="l"/>
            <a:r>
              <a:rPr sz="1400" b="1">
                <a:solidFill>
                  <a:srgbClr val="181F25"/>
                </a:solidFill>
                <a:latin typeface="Calibri"/>
              </a:rPr>
              <a:t>Multi-Channel Deployment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B333B"/>
                </a:solidFill>
                <a:latin typeface="Calibri"/>
              </a:rPr>
              <a:t>Publish to Teams, Web, Mobile, WhatsApp, and more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6632" y="3829050"/>
            <a:ext cx="4306824" cy="45720"/>
          </a:xfrm>
          <a:prstGeom prst="rect">
            <a:avLst/>
          </a:prstGeom>
          <a:solidFill>
            <a:srgbClr val="A5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449056" cy="1015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>
                <a:solidFill>
                  <a:srgbClr val="181F25"/>
                </a:solidFill>
                <a:latin typeface="Calibri"/>
              </a:rPr>
              <a:t>Choose Your Tool: Agent Builder vs. Copilot Studio by Scope and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37416"/>
            <a:ext cx="8449056" cy="6462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0">
                <a:solidFill>
                  <a:srgbClr val="2B333B"/>
                </a:solidFill>
                <a:latin typeface="Calibri"/>
              </a:rPr>
              <a:t>Use Agent Builder for lightweight Q&amp;A; choose Copilot Studio for advanced workflows and external integrations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48306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649474"/>
            <a:ext cx="4334256" cy="2928366"/>
          </a:xfrm>
          <a:prstGeom prst="roundRect">
            <a:avLst/>
          </a:prstGeom>
          <a:solidFill>
            <a:srgbClr val="DEFCF0"/>
          </a:solidFill>
          <a:ln w="19050">
            <a:solidFill>
              <a:srgbClr val="D8E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49474"/>
            <a:ext cx="4334256" cy="411480"/>
          </a:xfrm>
          <a:prstGeom prst="rect">
            <a:avLst/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>
            <a:normAutofit/>
          </a:bodyPr>
          <a:lstStyle/>
          <a:p>
            <a:pPr algn="l"/>
            <a:r>
              <a:rPr sz="1600" b="1">
                <a:solidFill>
                  <a:srgbClr val="181F25"/>
                </a:solidFill>
                <a:latin typeface="Calibri"/>
              </a:rPr>
              <a:t>M365 Agent 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52394"/>
            <a:ext cx="4059936" cy="23340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</a:pPr>
            <a:r>
              <a:rPr sz="1400">
                <a:solidFill>
                  <a:srgbClr val="2B333B"/>
                </a:solidFill>
                <a:latin typeface="Calibri"/>
              </a:rPr>
              <a:t>→ For individuals and small teams; natural language authoring; SharePoint Q&amp;A focus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B333B"/>
                </a:solidFill>
                <a:latin typeface="Calibri"/>
              </a:rPr>
              <a:t>→ Create in Agent Builder → Copy to Copilot Studio to unlock advanced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0056" y="2649474"/>
            <a:ext cx="4334256" cy="2928366"/>
          </a:xfrm>
          <a:prstGeom prst="roundRect">
            <a:avLst/>
          </a:prstGeom>
          <a:solidFill>
            <a:srgbClr val="FCFCFD"/>
          </a:solidFill>
          <a:ln w="2540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0056" y="2649474"/>
            <a:ext cx="4334256" cy="41148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>
            <a:normAutofit/>
          </a:bodyPr>
          <a:lstStyle/>
          <a:p>
            <a:pPr algn="l"/>
            <a:r>
              <a:rPr sz="1600" b="1">
                <a:solidFill>
                  <a:srgbClr val="181F25"/>
                </a:solidFill>
                <a:latin typeface="Calibri"/>
              </a:rPr>
              <a:t>Copilot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7216" y="3152394"/>
            <a:ext cx="4059936" cy="23340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</a:pPr>
            <a:r>
              <a:rPr sz="1400">
                <a:solidFill>
                  <a:srgbClr val="2B333B"/>
                </a:solidFill>
                <a:latin typeface="Calibri"/>
              </a:rPr>
              <a:t>→ For departments, organizations, and external customers; multi-step workflows; Premium connectors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B333B"/>
                </a:solidFill>
                <a:latin typeface="Calibri"/>
              </a:rPr>
              <a:t>→ Select based on target audience size, feature requirements, and governance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449056" cy="1015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>
                <a:solidFill>
                  <a:srgbClr val="181F25"/>
                </a:solidFill>
                <a:latin typeface="Calibri"/>
              </a:rPr>
              <a:t>Proof of Momentum: Six Major Releases in Six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45976"/>
            <a:ext cx="8449056" cy="6462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0">
                <a:solidFill>
                  <a:srgbClr val="2B333B"/>
                </a:solidFill>
                <a:latin typeface="Calibri"/>
              </a:rPr>
              <a:t>GPT-5 support, Computer-Using Agents, MCP integration, and more — rapid innovation validates platform longevity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65426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466594"/>
            <a:ext cx="36576" cy="310896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484882"/>
            <a:ext cx="219456" cy="219456"/>
          </a:xfrm>
          <a:prstGeom prst="ellipse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430018"/>
            <a:ext cx="1097280" cy="44077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200" b="1">
                <a:solidFill>
                  <a:srgbClr val="181F25"/>
                </a:solidFill>
                <a:latin typeface="Calibri"/>
              </a:rPr>
              <a:t>Sep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430018"/>
            <a:ext cx="6885431" cy="4407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2B333B"/>
                </a:solidFill>
                <a:latin typeface="Calibri"/>
              </a:rPr>
              <a:t>Computer-Using Agents (CUA) preview, Client SDK for native apps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3003438"/>
            <a:ext cx="219456" cy="219456"/>
          </a:xfrm>
          <a:prstGeom prst="ellipse">
            <a:avLst/>
          </a:prstGeom>
          <a:solidFill>
            <a:srgbClr val="A5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948574"/>
            <a:ext cx="1097280" cy="44077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200" b="1">
                <a:solidFill>
                  <a:srgbClr val="181F25"/>
                </a:solidFill>
                <a:latin typeface="Calibri"/>
              </a:rPr>
              <a:t>Oct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948574"/>
            <a:ext cx="6885431" cy="4407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2B333B"/>
                </a:solidFill>
                <a:latin typeface="Calibri"/>
              </a:rPr>
              <a:t>GPT-4.1 as default model, MCP server integration, agent evaluation test sets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521994"/>
            <a:ext cx="219456" cy="219456"/>
          </a:xfrm>
          <a:prstGeom prst="ellipse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467130"/>
            <a:ext cx="1097280" cy="44077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200" b="1">
                <a:solidFill>
                  <a:srgbClr val="181F25"/>
                </a:solidFill>
                <a:latin typeface="Calibri"/>
              </a:rPr>
              <a:t>Nov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467130"/>
            <a:ext cx="6885431" cy="4407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2B333B"/>
                </a:solidFill>
                <a:latin typeface="Calibri"/>
              </a:rPr>
              <a:t>GPT-5 GA rollout, multi-agent orchestration, SharePoint metadata filters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4040550"/>
            <a:ext cx="219456" cy="219456"/>
          </a:xfrm>
          <a:prstGeom prst="ellipse">
            <a:avLst/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985686"/>
            <a:ext cx="1097280" cy="44077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200" b="1">
                <a:solidFill>
                  <a:srgbClr val="181F25"/>
                </a:solidFill>
                <a:latin typeface="Calibri"/>
              </a:rPr>
              <a:t>Jan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985686"/>
            <a:ext cx="6885431" cy="4407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2B333B"/>
                </a:solidFill>
                <a:latin typeface="Calibri"/>
              </a:rPr>
              <a:t>VS Code extension GA, Cloud PC pooling, enhanced evaluation with activity maps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4559106"/>
            <a:ext cx="219456" cy="219456"/>
          </a:xfrm>
          <a:prstGeom prst="ellipse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504242"/>
            <a:ext cx="1097280" cy="44077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200" b="1">
                <a:solidFill>
                  <a:srgbClr val="181F25"/>
                </a:solidFill>
                <a:latin typeface="Calibri"/>
              </a:rPr>
              <a:t>Feb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504242"/>
            <a:ext cx="6885431" cy="4407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2B333B"/>
                </a:solidFill>
                <a:latin typeface="Calibri"/>
              </a:rPr>
              <a:t>Claude Sonnet 4.5 for CUA, prompt builder enhancements with new models</a:t>
            </a:r>
          </a:p>
        </p:txBody>
      </p:sp>
      <p:sp>
        <p:nvSpPr>
          <p:cNvPr id="22" name="Oval 21"/>
          <p:cNvSpPr/>
          <p:nvPr/>
        </p:nvSpPr>
        <p:spPr>
          <a:xfrm>
            <a:off x="896112" y="5077663"/>
            <a:ext cx="219456" cy="219456"/>
          </a:xfrm>
          <a:prstGeom prst="ellipse">
            <a:avLst/>
          </a:prstGeom>
          <a:solidFill>
            <a:srgbClr val="75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5022799"/>
            <a:ext cx="1097280" cy="440772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200" b="1">
                <a:solidFill>
                  <a:srgbClr val="181F25"/>
                </a:solidFill>
                <a:latin typeface="Calibri"/>
              </a:rPr>
              <a:t>Mar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022799"/>
            <a:ext cx="6885431" cy="4407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2B333B"/>
                </a:solidFill>
                <a:latin typeface="Calibri"/>
              </a:rPr>
              <a:t>Work IQ tool integration (preview) for real-time Microsoft 365 insights</a:t>
            </a:r>
          </a:p>
        </p:txBody>
      </p:sp>
      <p:pic>
        <p:nvPicPr>
          <p:cNvPr id="25" name="Picture 24" descr="calendar_B1D6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584" y="987552"/>
            <a:ext cx="768096" cy="76809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449056" cy="1015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1F25"/>
                </a:solidFill>
                <a:latin typeface="Calibri"/>
              </a:rPr>
              <a:t>Adoption Cost: Three Paths to Start with Minimal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45976"/>
            <a:ext cx="8449056" cy="6462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0">
                <a:solidFill>
                  <a:srgbClr val="2B333B"/>
                </a:solidFill>
                <a:latin typeface="Calibri"/>
              </a:rPr>
              <a:t>Free trial → M365 subscription → Standalone license: a staged approach that minimizes financial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65426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466594"/>
            <a:ext cx="2752344" cy="2377440"/>
          </a:xfrm>
          <a:prstGeom prst="roundRect">
            <a:avLst/>
          </a:prstGeom>
          <a:solidFill>
            <a:srgbClr val="FCFCFD"/>
          </a:solidFill>
          <a:ln w="2540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466594"/>
            <a:ext cx="2752344" cy="54864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380994"/>
            <a:ext cx="2569463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1">
                <a:solidFill>
                  <a:srgbClr val="181F25"/>
                </a:solidFill>
                <a:latin typeface="Calibri"/>
              </a:rPr>
              <a:t>Free 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792474"/>
            <a:ext cx="2532887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>
                <a:solidFill>
                  <a:srgbClr val="2B333B"/>
                </a:solidFill>
                <a:latin typeface="Calibri"/>
              </a:rPr>
              <a:t>Sign up and start immediately; extend 30 days; agents run 90 days post-expiry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9584" y="2466594"/>
            <a:ext cx="2752344" cy="2377440"/>
          </a:xfrm>
          <a:prstGeom prst="roundRect">
            <a:avLst/>
          </a:prstGeom>
          <a:solidFill>
            <a:srgbClr val="FCFCFD"/>
          </a:solidFill>
          <a:ln w="25400">
            <a:solidFill>
              <a:srgbClr val="5C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9584" y="2466594"/>
            <a:ext cx="2752344" cy="54864"/>
          </a:xfrm>
          <a:prstGeom prst="rect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3380994"/>
            <a:ext cx="2569463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1">
                <a:solidFill>
                  <a:srgbClr val="181F25"/>
                </a:solidFill>
                <a:latin typeface="Calibri"/>
              </a:rPr>
              <a:t>M365 Included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3792474"/>
            <a:ext cx="2532887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>
                <a:solidFill>
                  <a:srgbClr val="2B333B"/>
                </a:solidFill>
                <a:latin typeface="Calibri"/>
              </a:rPr>
              <a:t>Teams-only channel, standard connectors, basic capabilities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1968" y="2466594"/>
            <a:ext cx="2752344" cy="2377440"/>
          </a:xfrm>
          <a:prstGeom prst="roundRect">
            <a:avLst/>
          </a:prstGeom>
          <a:solidFill>
            <a:srgbClr val="FCFCFD"/>
          </a:solidFill>
          <a:ln w="25400">
            <a:solidFill>
              <a:srgbClr val="B1D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01968" y="2466594"/>
            <a:ext cx="2752344" cy="54864"/>
          </a:xfrm>
          <a:prstGeom prst="rect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7" y="3380994"/>
            <a:ext cx="2569463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1">
                <a:solidFill>
                  <a:srgbClr val="181F25"/>
                </a:solidFill>
                <a:latin typeface="Calibri"/>
              </a:rPr>
              <a:t>Standalone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1696" y="3792474"/>
            <a:ext cx="2532887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>
                <a:solidFill>
                  <a:srgbClr val="2B333B"/>
                </a:solidFill>
                <a:latin typeface="Calibri"/>
              </a:rPr>
              <a:t>All channels, Premium connectors, generative orchestration, full ALM</a:t>
            </a:r>
          </a:p>
        </p:txBody>
      </p:sp>
      <p:sp>
        <p:nvSpPr>
          <p:cNvPr id="18" name="footer_paygo"/>
          <p:cNvSpPr/>
          <p:nvPr/>
        </p:nvSpPr>
        <p:spPr>
          <a:xfrm>
            <a:off x="457200" y="4919472"/>
            <a:ext cx="8897112" cy="658368"/>
          </a:xfrm>
          <a:prstGeom prst="roundRect">
            <a:avLst/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>
            <a:normAutofit/>
          </a:bodyPr>
          <a:lstStyle/>
          <a:p>
            <a:pPr algn="l"/>
            <a:r>
              <a:rPr sz="1400" b="1">
                <a:solidFill>
                  <a:srgbClr val="181F25"/>
                </a:solidFill>
                <a:latin typeface="Calibri"/>
              </a:rPr>
              <a:t>Pay-As-You-Go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B333B"/>
                </a:solidFill>
                <a:latin typeface="Calibri"/>
              </a:rPr>
              <a:t>Flexible billing via Copilot Credits based on actual consumption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449056" cy="1015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>
                <a:solidFill>
                  <a:srgbClr val="181F25"/>
                </a:solidFill>
                <a:latin typeface="Calibri"/>
              </a:rPr>
              <a:t>Governance: Enterprise-Grade Security Is Built In, Not Bolted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37416"/>
            <a:ext cx="8449056" cy="64629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500" b="0">
                <a:solidFill>
                  <a:srgbClr val="2B333B"/>
                </a:solidFill>
                <a:latin typeface="Calibri"/>
              </a:rPr>
              <a:t>DLP, audit logs, CMK, and MIP labels are embedded in the platform — no extra configuration for baseline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48306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649474"/>
            <a:ext cx="4306824" cy="923544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>
            <a:normAutofit/>
          </a:bodyPr>
          <a:lstStyle/>
          <a:p>
            <a:pPr algn="l"/>
            <a:r>
              <a:rPr sz="1400" b="1">
                <a:solidFill>
                  <a:srgbClr val="181F25"/>
                </a:solidFill>
                <a:latin typeface="Calibri"/>
              </a:rPr>
              <a:t>Data Loss Prevention (DLP)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B333B"/>
                </a:solidFill>
                <a:latin typeface="Calibri"/>
              </a:rPr>
              <a:t>Power Platform data policies control connectors, channels, and generative AI usage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49474"/>
            <a:ext cx="54864" cy="923544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56632" y="2649474"/>
            <a:ext cx="4306824" cy="923544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5C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>
            <a:normAutofit/>
          </a:bodyPr>
          <a:lstStyle/>
          <a:p>
            <a:pPr algn="l"/>
            <a:r>
              <a:rPr sz="1400" b="1">
                <a:solidFill>
                  <a:srgbClr val="181F25"/>
                </a:solidFill>
                <a:latin typeface="Calibri"/>
              </a:rPr>
              <a:t>Audit &amp; Monitoring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B333B"/>
                </a:solidFill>
                <a:latin typeface="Calibri"/>
              </a:rPr>
              <a:t>Microsoft Purview + Sentinel provide full visibility into maker and user activity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56632" y="2649474"/>
            <a:ext cx="54864" cy="923544"/>
          </a:xfrm>
          <a:prstGeom prst="rect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829050"/>
            <a:ext cx="4306824" cy="923544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D8E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>
            <a:normAutofit/>
          </a:bodyPr>
          <a:lstStyle/>
          <a:p>
            <a:pPr algn="l"/>
            <a:r>
              <a:rPr sz="1400" b="1">
                <a:solidFill>
                  <a:srgbClr val="181F25"/>
                </a:solidFill>
                <a:latin typeface="Calibri"/>
              </a:rPr>
              <a:t>Encryption &amp; Data Residency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B333B"/>
                </a:solidFill>
                <a:latin typeface="Calibri"/>
              </a:rPr>
              <a:t>Customer-managed keys (CMK) and geographic data residency compliance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29050"/>
            <a:ext cx="54864" cy="923544"/>
          </a:xfrm>
          <a:prstGeom prst="rect">
            <a:avLst/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56632" y="3829050"/>
            <a:ext cx="4306824" cy="923544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B1D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>
            <a:normAutofit/>
          </a:bodyPr>
          <a:lstStyle/>
          <a:p>
            <a:pPr algn="l"/>
            <a:r>
              <a:rPr sz="1400" b="1">
                <a:solidFill>
                  <a:srgbClr val="181F25"/>
                </a:solidFill>
                <a:latin typeface="Calibri"/>
              </a:rPr>
              <a:t>Sensitivity Labels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2B333B"/>
                </a:solidFill>
                <a:latin typeface="Calibri"/>
              </a:rPr>
              <a:t>MIP labels propagate consistently from SharePoint sources to agent responses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6632" y="3829050"/>
            <a:ext cx="54864" cy="923544"/>
          </a:xfrm>
          <a:prstGeom prst="rect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449056" cy="55403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81F25"/>
                </a:solidFill>
                <a:latin typeface="Calibri"/>
              </a:rPr>
              <a:t>Execution Plan: From Trial to Production in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5826"/>
            <a:ext cx="8449056" cy="36932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>
                <a:solidFill>
                  <a:srgbClr val="2B333B"/>
                </a:solidFill>
                <a:latin typeface="Calibri"/>
              </a:rPr>
              <a:t>A three-phase roadmap that minimizes risk while accelerating time-to-value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09745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910913"/>
            <a:ext cx="8759952" cy="1051560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235525"/>
            <a:ext cx="502920" cy="402336"/>
          </a:xfrm>
          <a:prstGeom prst="round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>
            <a:normAutofit/>
          </a:bodyPr>
          <a:lstStyle/>
          <a:p>
            <a:pPr algn="ctr"/>
            <a:r>
              <a:rPr sz="1800" b="1">
                <a:solidFill>
                  <a:srgbClr val="2D2D2D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84065"/>
            <a:ext cx="7845552" cy="90525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5"/>
                </a:solidFill>
                <a:latin typeface="Calibri"/>
              </a:rPr>
              <a:t>Phase 1 (Days 1–30)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B333B"/>
                </a:solidFill>
                <a:latin typeface="Calibri"/>
              </a:rPr>
              <a:t>Sign up for free trial; build an IT helpdesk Q&amp;A agent as PoC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127065"/>
            <a:ext cx="8759952" cy="1051560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5C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3451677"/>
            <a:ext cx="502920" cy="402336"/>
          </a:xfrm>
          <a:prstGeom prst="roundRect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>
            <a:normAutofit/>
          </a:bodyPr>
          <a:lstStyle/>
          <a:p>
            <a:pPr algn="ctr"/>
            <a:r>
              <a:rPr sz="1800" b="1">
                <a:solidFill>
                  <a:srgbClr val="2D2D2D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200217"/>
            <a:ext cx="7845552" cy="90525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5"/>
                </a:solidFill>
                <a:latin typeface="Calibri"/>
              </a:rPr>
              <a:t>Phase 2 (Days 31–60)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B333B"/>
                </a:solidFill>
                <a:latin typeface="Calibri"/>
              </a:rPr>
              <a:t>Finalize Agent Builder vs. Copilot Studio decision; design DLP policies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343217"/>
            <a:ext cx="8759952" cy="1051560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B1D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4667829"/>
            <a:ext cx="502920" cy="402336"/>
          </a:xfrm>
          <a:prstGeom prst="roundRect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>
            <a:normAutofit/>
          </a:bodyPr>
          <a:lstStyle/>
          <a:p>
            <a:pPr algn="ctr"/>
            <a:r>
              <a:rPr sz="1800" b="1">
                <a:solidFill>
                  <a:srgbClr val="2D2D2D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416369"/>
            <a:ext cx="7845552" cy="90525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81F25"/>
                </a:solidFill>
                <a:latin typeface="Calibri"/>
              </a:rPr>
              <a:t>Phase 3 (Days 61–90)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B333B"/>
                </a:solidFill>
                <a:latin typeface="Calibri"/>
              </a:rPr>
              <a:t>Acquire standalone license; deploy to production channels; enable audit logging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457200"/>
            <a:ext cx="73152" cy="59436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8449056" cy="55403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>
                <a:solidFill>
                  <a:srgbClr val="181F25"/>
                </a:solidFill>
                <a:latin typeface="Calibri"/>
              </a:rPr>
              <a:t>Start Today: Three Immediate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5826"/>
            <a:ext cx="8449056" cy="36932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>
                <a:solidFill>
                  <a:srgbClr val="2B333B"/>
                </a:solidFill>
                <a:latin typeface="Calibri"/>
              </a:rPr>
              <a:t>Sign up, build your first agent, and set up governance — start moving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09745"/>
            <a:ext cx="1371600" cy="18288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910913"/>
            <a:ext cx="8897112" cy="868680"/>
          </a:xfrm>
          <a:prstGeom prst="roundRect">
            <a:avLst/>
          </a:prstGeom>
          <a:solidFill>
            <a:srgbClr val="DEFCF0"/>
          </a:solidFill>
          <a:ln w="2540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91440" bIns="73152">
            <a:normAutofit/>
          </a:bodyPr>
          <a:lstStyle/>
          <a:p>
            <a:pPr algn="l"/>
            <a:r>
              <a:rPr sz="1600" b="1">
                <a:solidFill>
                  <a:srgbClr val="181F25"/>
                </a:solidFill>
                <a:latin typeface="Calibri"/>
              </a:rPr>
              <a:t>Sign up, build your first agent, and set up governance — start moving 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944185"/>
            <a:ext cx="8759952" cy="777240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A8F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944185"/>
            <a:ext cx="54864" cy="77724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17337"/>
            <a:ext cx="8348472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181F25"/>
                </a:solidFill>
                <a:latin typeface="Calibri"/>
              </a:rPr>
              <a:t>① Sign up for a free trial at copilotstudio.microsoft.com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858585"/>
            <a:ext cx="8759952" cy="777240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5C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3858585"/>
            <a:ext cx="54864" cy="777240"/>
          </a:xfrm>
          <a:prstGeom prst="rect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31737"/>
            <a:ext cx="8348472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181F25"/>
                </a:solidFill>
                <a:latin typeface="Calibri"/>
              </a:rPr>
              <a:t>② Identify your top use case and build your first agent PoC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772985"/>
            <a:ext cx="8759952" cy="777240"/>
          </a:xfrm>
          <a:prstGeom prst="roundRect">
            <a:avLst/>
          </a:prstGeom>
          <a:solidFill>
            <a:srgbClr val="FCFCFD"/>
          </a:solidFill>
          <a:ln w="19050">
            <a:solidFill>
              <a:srgbClr val="B1D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4772985"/>
            <a:ext cx="54864" cy="777240"/>
          </a:xfrm>
          <a:prstGeom prst="rect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846137"/>
            <a:ext cx="8348472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181F25"/>
                </a:solidFill>
                <a:latin typeface="Calibri"/>
              </a:rPr>
              <a:t>③ Partner with IT to design DLP policies and enable audit logging</a:t>
            </a:r>
          </a:p>
        </p:txBody>
      </p:sp>
      <p:pic>
        <p:nvPicPr>
          <p:cNvPr id="16" name="Picture 15" descr="10-start-today-three-immediate-actions-839cb11b5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831532"/>
            <a:ext cx="1920240" cy="1080135"/>
          </a:xfrm>
          <a:prstGeom prst="rect">
            <a:avLst/>
          </a:prstGeom>
        </p:spPr>
      </p:pic>
      <p:pic>
        <p:nvPicPr>
          <p:cNvPr id="17" name="Picture 16" descr="arrow-right_5CE4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84" y="987552"/>
            <a:ext cx="768096" cy="7680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r"/>
            <a:r>
              <a:rPr sz="900">
                <a:solidFill>
                  <a:srgbClr val="2B333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